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44">
          <p15:clr>
            <a:srgbClr val="747775"/>
          </p15:clr>
        </p15:guide>
        <p15:guide id="2" pos="290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D9AA40-627E-45EA-9933-2403FE59164D}">
  <a:tblStyle styleId="{F9D9AA40-627E-45EA-9933-2403FE59164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6E9B37F-62DC-447C-B9ED-6B1240F0E8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44" orient="horz"/>
        <p:guide pos="290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72cc973ac_1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e72cc973ac_1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e72cc973ac_1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5dd8bb3ef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e5dd8bb3ef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5dd8bb3ef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73bcc3028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e73bcc3028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73bcc3028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3" Type="http://schemas.openxmlformats.org/officeDocument/2006/relationships/image" Target="../media/image1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15" Type="http://schemas.openxmlformats.org/officeDocument/2006/relationships/image" Target="../media/image7.png"/><Relationship Id="rId1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7840"/>
              </a:buClr>
              <a:buSzPts val="1100"/>
              <a:buFont typeface="Calibri"/>
              <a:buNone/>
            </a:pPr>
            <a:r>
              <a:rPr i="0" lang="en-US" sz="1800" u="none" cap="none" strike="noStrike">
                <a:solidFill>
                  <a:srgbClr val="A07840"/>
                </a:solidFill>
              </a:rPr>
              <a:t>Projekt zespołowy · 2026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UrbanHealth</a:t>
            </a:r>
            <a:r>
              <a:rPr b="1" lang="en-US" sz="52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Sim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600"/>
              <a:buFont typeface="Georgia"/>
              <a:buNone/>
            </a:pPr>
            <a:r>
              <a:rPr b="0" i="1" lang="en-US" sz="1800" u="none" cap="none" strike="noStrike">
                <a:solidFill>
                  <a:srgbClr val="34495E"/>
                </a:solidFill>
                <a:latin typeface="Georgia"/>
                <a:ea typeface="Georgia"/>
                <a:cs typeface="Georgia"/>
                <a:sym typeface="Georgia"/>
              </a:rPr>
              <a:t>Demograficzna symulacja populacji</a:t>
            </a:r>
            <a:r>
              <a:rPr i="1" lang="en-US" sz="1800">
                <a:solidFill>
                  <a:srgbClr val="34495E"/>
                </a:solidFill>
                <a:latin typeface="Georgia"/>
                <a:ea typeface="Georgia"/>
                <a:cs typeface="Georgia"/>
                <a:sym typeface="Georgia"/>
              </a:rPr>
              <a:t> agentowej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600"/>
              <a:buFont typeface="Georgia"/>
              <a:buNone/>
            </a:pPr>
            <a:r>
              <a:rPr b="0" i="1" lang="en-US" sz="1800" u="none" cap="none" strike="noStrike">
                <a:solidFill>
                  <a:srgbClr val="34495E"/>
                </a:solidFill>
                <a:latin typeface="Georgia"/>
                <a:ea typeface="Georgia"/>
                <a:cs typeface="Georgia"/>
                <a:sym typeface="Georgia"/>
              </a:rPr>
              <a:t>z modelem dynamicznego ryzyka chorób przewlekłych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3749040" y="2697480"/>
            <a:ext cx="164592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914400" y="28803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7840"/>
              </a:buClr>
              <a:buSzPts val="900"/>
              <a:buFont typeface="Calibri"/>
              <a:buNone/>
            </a:pPr>
            <a:r>
              <a:rPr b="0" i="0" lang="en-US" u="none" cap="none" strike="noStrike">
                <a:solidFill>
                  <a:srgbClr val="A07840"/>
                </a:solidFill>
                <a:latin typeface="Calibri"/>
                <a:ea typeface="Calibri"/>
                <a:cs typeface="Calibri"/>
                <a:sym typeface="Calibri"/>
              </a:rPr>
              <a:t>OPIEKUNOWIE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914400" y="31272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1B2A41"/>
                </a:solidFill>
              </a:rPr>
              <a:t>dr inż. Franciszek Rakowski  ·  dr Jan Kisielewski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710250" y="3383312"/>
            <a:ext cx="7723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i="0" lang="en-US" u="none" cap="none" strike="noStrike">
                <a:solidFill>
                  <a:srgbClr val="6B7785"/>
                </a:solidFill>
              </a:rPr>
              <a:t>Interdyscyplinarne Centrum Modelowania Matematycznego i Komputerowego UW </a:t>
            </a:r>
            <a:r>
              <a:rPr lang="en-US">
                <a:solidFill>
                  <a:srgbClr val="6B7785"/>
                </a:solidFill>
              </a:rPr>
              <a:t>· Simmundi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14400" y="37307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7840"/>
              </a:buClr>
              <a:buSzPts val="900"/>
              <a:buFont typeface="Calibri"/>
              <a:buNone/>
            </a:pPr>
            <a:r>
              <a:rPr i="0" lang="en-US" sz="1200" u="none" cap="none" strike="noStrike">
                <a:solidFill>
                  <a:srgbClr val="A07840"/>
                </a:solidFill>
              </a:rPr>
              <a:t>ZESPÓŁ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14400" y="39593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B2A41"/>
                </a:solidFill>
              </a:rPr>
              <a:t>Anna Strugielska · kierownik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914400" y="4247760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200"/>
              <a:buFont typeface="Calibri"/>
              <a:buNone/>
            </a:pPr>
            <a:r>
              <a:rPr i="0" lang="en-US" sz="1600" u="none" cap="none" strike="noStrike">
                <a:solidFill>
                  <a:srgbClr val="34495E"/>
                </a:solidFill>
              </a:rPr>
              <a:t>Weronika Dąbrowska  ·  Magdalena Jarońska  ·  Wojciech Ofiara</a:t>
            </a:r>
            <a:endParaRPr i="0" sz="16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07840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2C5F7C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C9A87B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Wstęp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3931920" y="3429000"/>
            <a:ext cx="1280160" cy="36576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1300"/>
              <a:buFont typeface="Calibri"/>
              <a:buNone/>
            </a:pPr>
            <a:r>
              <a:rPr lang="en-US" sz="1800">
                <a:solidFill>
                  <a:srgbClr val="C9A87B"/>
                </a:solidFill>
              </a:rPr>
              <a:t>Cele projektu · Czym jest model agentowy? 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Cele projektu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324275" y="639250"/>
            <a:ext cx="84126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782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Budowa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modelu agentow</a:t>
            </a:r>
            <a:r>
              <a:rPr lang="en-US" sz="1800">
                <a:solidFill>
                  <a:srgbClr val="34495E"/>
                </a:solidFill>
              </a:rPr>
              <a:t>ego 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cyfrowego bliźniaka s</a:t>
            </a:r>
            <a:r>
              <a:rPr lang="en-US" sz="1800">
                <a:solidFill>
                  <a:srgbClr val="34495E"/>
                </a:solidFill>
              </a:rPr>
              <a:t>ubpopulacji Polski - dla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50 000 agentów</a:t>
            </a:r>
            <a:r>
              <a:rPr lang="en-US" sz="1800">
                <a:solidFill>
                  <a:srgbClr val="34495E"/>
                </a:solidFill>
              </a:rPr>
              <a:t> i w czasie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50 lat z założeniami polsk</a:t>
            </a:r>
            <a:r>
              <a:rPr lang="en-US" sz="1800">
                <a:solidFill>
                  <a:srgbClr val="34495E"/>
                </a:solidFill>
              </a:rPr>
              <a:t>iej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demografi</a:t>
            </a:r>
            <a:r>
              <a:rPr lang="en-US" sz="1800">
                <a:solidFill>
                  <a:srgbClr val="34495E"/>
                </a:solidFill>
              </a:rPr>
              <a:t>i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7782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Kalibracja współczynników urodzeń, zgonów i dzietności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z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danych GUS 2021.</a:t>
            </a:r>
            <a:endParaRPr sz="1800">
              <a:solidFill>
                <a:schemeClr val="dk1"/>
              </a:solidFill>
            </a:endParaRPr>
          </a:p>
          <a:p>
            <a:pPr indent="-37782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Wdroż</a:t>
            </a:r>
            <a:r>
              <a:rPr lang="en-US" sz="1800">
                <a:solidFill>
                  <a:srgbClr val="34495E"/>
                </a:solidFill>
              </a:rPr>
              <a:t>enie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modelu dynamicznego ryzyka z biologiczną pamięcią agenta.</a:t>
            </a:r>
            <a:endParaRPr sz="1800">
              <a:solidFill>
                <a:schemeClr val="dk1"/>
              </a:solidFill>
            </a:endParaRPr>
          </a:p>
          <a:p>
            <a:pPr indent="-37782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Wykona</a:t>
            </a:r>
            <a:r>
              <a:rPr lang="en-US" sz="1800">
                <a:solidFill>
                  <a:srgbClr val="34495E"/>
                </a:solidFill>
              </a:rPr>
              <a:t>nie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optymalizacji parametrów i znale</a:t>
            </a:r>
            <a:r>
              <a:rPr lang="en-US" sz="1800">
                <a:solidFill>
                  <a:srgbClr val="34495E"/>
                </a:solidFill>
              </a:rPr>
              <a:t>zienie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reguł</a:t>
            </a:r>
            <a:r>
              <a:rPr lang="en-US" sz="1800">
                <a:solidFill>
                  <a:srgbClr val="34495E"/>
                </a:solidFill>
              </a:rPr>
              <a:t>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stabilności populacji.</a:t>
            </a:r>
            <a:endParaRPr sz="1800">
              <a:solidFill>
                <a:schemeClr val="dk1"/>
              </a:solidFill>
            </a:endParaRPr>
          </a:p>
          <a:p>
            <a:pPr indent="-37782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Wykonanie </a:t>
            </a:r>
            <a:r>
              <a:rPr lang="en-US" sz="1800">
                <a:solidFill>
                  <a:srgbClr val="34495E"/>
                </a:solidFill>
              </a:rPr>
              <a:t>a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plikacj</a:t>
            </a:r>
            <a:r>
              <a:rPr lang="en-US" sz="1800">
                <a:solidFill>
                  <a:srgbClr val="34495E"/>
                </a:solidFill>
              </a:rPr>
              <a:t>i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interaktywn</a:t>
            </a:r>
            <a:r>
              <a:rPr lang="en-US" sz="1800">
                <a:solidFill>
                  <a:srgbClr val="34495E"/>
                </a:solidFill>
              </a:rPr>
              <a:t>ej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z</a:t>
            </a:r>
            <a:r>
              <a:rPr lang="en-US" sz="1800">
                <a:solidFill>
                  <a:srgbClr val="34495E"/>
                </a:solidFill>
              </a:rPr>
              <a:t>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suwakami </a:t>
            </a:r>
            <a:r>
              <a:rPr lang="en-US" sz="1800">
                <a:solidFill>
                  <a:srgbClr val="34495E"/>
                </a:solidFill>
              </a:rPr>
              <a:t>manipulującymi czynnikami ryzyka.</a:t>
            </a:r>
            <a:endParaRPr sz="1800">
              <a:solidFill>
                <a:schemeClr val="dk1"/>
              </a:solidFill>
            </a:endParaRPr>
          </a:p>
          <a:p>
            <a:pPr indent="-37782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Wnioski demograficzne, </a:t>
            </a:r>
            <a:r>
              <a:rPr lang="en-US" sz="1800">
                <a:solidFill>
                  <a:srgbClr val="34495E"/>
                </a:solidFill>
              </a:rPr>
              <a:t>zdrowotne.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Czym jest </a:t>
            </a: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model agentowy</a:t>
            </a: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457075" y="886204"/>
            <a:ext cx="3840600" cy="2722500"/>
          </a:xfrm>
          <a:prstGeom prst="rect">
            <a:avLst/>
          </a:prstGeom>
          <a:solidFill>
            <a:srgbClr val="CFE2F3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640080" y="946032"/>
            <a:ext cx="347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Model makro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40138" y="1584167"/>
            <a:ext cx="34746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Populacja jako jedna liczba.</a:t>
            </a:r>
            <a:endParaRPr i="0" sz="1800" u="none" cap="none" strike="noStrike">
              <a:solidFill>
                <a:srgbClr val="34495E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Całe grupy zmieniają swój stan w sposób s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zybki, ale</a:t>
            </a:r>
            <a:r>
              <a:rPr lang="en-US" sz="1800">
                <a:solidFill>
                  <a:srgbClr val="34495E"/>
                </a:solidFill>
              </a:rPr>
              <a:t> niewrażliwy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n</a:t>
            </a:r>
            <a:r>
              <a:rPr lang="en-US" sz="1800">
                <a:solidFill>
                  <a:srgbClr val="34495E"/>
                </a:solidFill>
              </a:rPr>
              <a:t>a zróżnicowanie.</a:t>
            </a:r>
            <a:endParaRPr i="0" sz="1800" u="none" cap="none" strike="noStrike">
              <a:solidFill>
                <a:srgbClr val="34495E"/>
              </a:solidFill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754875" y="900317"/>
            <a:ext cx="3931800" cy="27225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F6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"/>
          <p:cNvSpPr/>
          <p:nvPr/>
        </p:nvSpPr>
        <p:spPr>
          <a:xfrm>
            <a:off x="4873737" y="991817"/>
            <a:ext cx="369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odel agentowy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4937725" y="1656942"/>
            <a:ext cx="3566100" cy="188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Każdy mieszkaniec to osobny obiekt</a:t>
            </a:r>
            <a:r>
              <a:rPr b="1" i="0" lang="en-US" sz="1800" u="none" cap="none" strike="noStrike">
                <a:solidFill>
                  <a:srgbClr val="34495E"/>
                </a:solidFill>
              </a:rPr>
              <a:t>.</a:t>
            </a:r>
            <a:endParaRPr i="0" sz="1800" u="none" cap="none" strike="noStrike">
              <a:solidFill>
                <a:srgbClr val="34495E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Jednostki podejmują decyzje lokalnie, tworząc nieprzewidywalny wzorzec zachowań populacji. </a:t>
            </a:r>
            <a:endParaRPr i="0" sz="1800" u="none" cap="none" strike="noStrike">
              <a:solidFill>
                <a:srgbClr val="34495E"/>
              </a:solidFill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457200" y="3745129"/>
            <a:ext cx="8229600" cy="9144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C9A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/>
          <p:nvPr/>
        </p:nvSpPr>
        <p:spPr>
          <a:xfrm>
            <a:off x="457200" y="3745129"/>
            <a:ext cx="54900" cy="9144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566928" y="3745129"/>
            <a:ext cx="806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200"/>
              <a:buFont typeface="Calibri"/>
              <a:buNone/>
            </a:pPr>
            <a:r>
              <a:rPr i="0" lang="en-US" sz="1800" u="none" cap="none" strike="noStrike">
                <a:solidFill>
                  <a:srgbClr val="34495E"/>
                </a:solidFill>
              </a:rPr>
              <a:t>Po co? Aby zobaczyć, jak </a:t>
            </a:r>
            <a:r>
              <a:rPr lang="en-US" sz="1800">
                <a:solidFill>
                  <a:srgbClr val="34495E"/>
                </a:solidFill>
              </a:rPr>
              <a:t>czynniki ryzyka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na poziomie jednostki (np. palenie, otyłość, nadciśnienie) przekładają się na kształt piramidy wiekowej i strukturę zdrowia populacji w </a:t>
            </a:r>
            <a:r>
              <a:rPr lang="en-US" sz="1800">
                <a:solidFill>
                  <a:srgbClr val="34495E"/>
                </a:solidFill>
              </a:rPr>
              <a:t>perspektywie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50 lat.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07840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2C5F7C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C9A87B"/>
                </a:solidFill>
                <a:latin typeface="Georgia"/>
                <a:ea typeface="Georgia"/>
                <a:cs typeface="Georgia"/>
                <a:sym typeface="Georgia"/>
              </a:rPr>
              <a:t>II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Źródła danych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3931920" y="3429000"/>
            <a:ext cx="1280160" cy="36576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1300"/>
              <a:buFont typeface="Calibri"/>
              <a:buNone/>
            </a:pPr>
            <a:r>
              <a:rPr lang="en-US" sz="1800">
                <a:solidFill>
                  <a:srgbClr val="C9A87B"/>
                </a:solidFill>
              </a:rPr>
              <a:t>GUS Polska</a:t>
            </a:r>
            <a:r>
              <a:rPr i="0" lang="en-US" sz="1800" u="none" cap="none" strike="noStrike">
                <a:solidFill>
                  <a:srgbClr val="C9A87B"/>
                </a:solidFill>
              </a:rPr>
              <a:t> ·  Białystok+  ·  </a:t>
            </a:r>
            <a:r>
              <a:rPr lang="en-US" sz="1800">
                <a:solidFill>
                  <a:srgbClr val="C9A87B"/>
                </a:solidFill>
              </a:rPr>
              <a:t>Bazy danych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9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Dwa filary danych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/>
          <p:nvPr/>
        </p:nvSpPr>
        <p:spPr>
          <a:xfrm>
            <a:off x="548640" y="837959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1 · Demografia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548640" y="1344624"/>
            <a:ext cx="3749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GUS Polska 2021 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Program Białystok+ </a:t>
            </a:r>
            <a:r>
              <a:rPr lang="en-US" sz="1800">
                <a:solidFill>
                  <a:srgbClr val="34495E"/>
                </a:solidFill>
              </a:rPr>
              <a:t>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k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ohortowe dane medyczne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4754880" y="837959"/>
            <a:ext cx="393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2 · </a:t>
            </a:r>
            <a:r>
              <a:rPr b="1" lang="en-US" sz="1800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Dane zdrowotne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4846455" y="1390411"/>
            <a:ext cx="39318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WHO</a:t>
            </a:r>
            <a:endParaRPr i="0" sz="1800" u="none" cap="none" strike="noStrike">
              <a:solidFill>
                <a:srgbClr val="34495E"/>
              </a:solidFill>
            </a:endParaRPr>
          </a:p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ESC</a:t>
            </a:r>
            <a:endParaRPr sz="1800">
              <a:solidFill>
                <a:srgbClr val="34495E"/>
              </a:solidFill>
            </a:endParaRPr>
          </a:p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CDC </a:t>
            </a:r>
            <a:endParaRPr i="0" sz="1800" u="none" cap="none" strike="noStrike">
              <a:solidFill>
                <a:srgbClr val="34495E"/>
              </a:solidFill>
            </a:endParaRPr>
          </a:p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IARC </a:t>
            </a:r>
            <a:endParaRPr sz="1800">
              <a:solidFill>
                <a:srgbClr val="34495E"/>
              </a:solidFill>
            </a:endParaRPr>
          </a:p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Framingham Heart Study </a:t>
            </a:r>
            <a:endParaRPr sz="1800">
              <a:solidFill>
                <a:schemeClr val="dk1"/>
              </a:solidFill>
            </a:endParaRPr>
          </a:p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ATP III</a:t>
            </a:r>
            <a:endParaRPr sz="1800">
              <a:solidFill>
                <a:srgbClr val="34495E"/>
              </a:solidFill>
            </a:endParaRPr>
          </a:p>
          <a:p>
            <a:pPr indent="-3778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GLOBOCAN 2020 </a:t>
            </a:r>
            <a:r>
              <a:rPr lang="en-US" sz="1800">
                <a:solidFill>
                  <a:srgbClr val="8899AA"/>
                </a:solidFill>
              </a:rPr>
              <a:t>   </a:t>
            </a:r>
            <a:endParaRPr sz="1800">
              <a:solidFill>
                <a:srgbClr val="34495E"/>
              </a:solidFill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457200" y="3771672"/>
            <a:ext cx="8229600" cy="8688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C9A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"/>
          <p:cNvSpPr/>
          <p:nvPr/>
        </p:nvSpPr>
        <p:spPr>
          <a:xfrm>
            <a:off x="457200" y="3771672"/>
            <a:ext cx="54900" cy="8688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539553" y="3782615"/>
            <a:ext cx="8064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34495E"/>
                </a:solidFill>
              </a:rPr>
              <a:t>Model agentowy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czerpie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demografię z GUS-</a:t>
            </a:r>
            <a:r>
              <a:rPr lang="en-US" sz="1800">
                <a:solidFill>
                  <a:srgbClr val="34495E"/>
                </a:solidFill>
              </a:rPr>
              <a:t>u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i programu Białystok+, natomiast </a:t>
            </a:r>
            <a:r>
              <a:rPr lang="en-US" sz="1800">
                <a:solidFill>
                  <a:srgbClr val="34495E"/>
                </a:solidFill>
              </a:rPr>
              <a:t>dane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zdrowotne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z </a:t>
            </a:r>
            <a:r>
              <a:rPr lang="en-US" sz="1800">
                <a:solidFill>
                  <a:srgbClr val="34495E"/>
                </a:solidFill>
              </a:rPr>
              <a:t>baz danych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07840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2C5F7C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9600"/>
              <a:buFont typeface="Georgia"/>
              <a:buNone/>
            </a:pPr>
            <a:r>
              <a:rPr b="1" lang="en-US" sz="9600">
                <a:solidFill>
                  <a:srgbClr val="C9A87B"/>
                </a:solidFill>
                <a:latin typeface="Georgia"/>
                <a:ea typeface="Georgia"/>
                <a:cs typeface="Georgia"/>
                <a:sym typeface="Georgia"/>
              </a:rPr>
              <a:t>III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	Budowa i kalibracja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3931920" y="3429000"/>
            <a:ext cx="1280160" cy="36576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1300"/>
              <a:buFont typeface="Calibri"/>
              <a:buNone/>
            </a:pPr>
            <a:r>
              <a:rPr i="0" lang="en-US" sz="1800" u="none" cap="none" strike="noStrike">
                <a:solidFill>
                  <a:srgbClr val="C9A87B"/>
                </a:solidFill>
              </a:rPr>
              <a:t>Architektura modelu ·  </a:t>
            </a:r>
            <a:r>
              <a:rPr lang="en-US" sz="1800">
                <a:solidFill>
                  <a:srgbClr val="C9A87B"/>
                </a:solidFill>
              </a:rPr>
              <a:t>Optymalizacja parametrów</a:t>
            </a:r>
            <a:r>
              <a:rPr i="0" lang="en-US" sz="1800" u="none" cap="none" strike="noStrike">
                <a:solidFill>
                  <a:srgbClr val="C9A87B"/>
                </a:solidFill>
              </a:rPr>
              <a:t> ·  Wyniki </a:t>
            </a:r>
            <a:r>
              <a:rPr lang="en-US" sz="1800">
                <a:solidFill>
                  <a:srgbClr val="C9A87B"/>
                </a:solidFill>
              </a:rPr>
              <a:t>pośrednie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Architektura modelu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457200" y="987552"/>
            <a:ext cx="5303520" cy="3200400"/>
          </a:xfrm>
          <a:prstGeom prst="rect">
            <a:avLst/>
          </a:prstGeom>
          <a:solidFill>
            <a:srgbClr val="F4F2EC"/>
          </a:solidFill>
          <a:ln cap="flat" cmpd="sng" w="12700">
            <a:solidFill>
              <a:srgbClr val="2C5F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457200" y="987552"/>
            <a:ext cx="64008" cy="3200400"/>
          </a:xfrm>
          <a:prstGeom prst="rect">
            <a:avLst/>
          </a:prstGeom>
          <a:solidFill>
            <a:srgbClr val="2C5F7C"/>
          </a:solidFill>
          <a:ln cap="flat" cmpd="sng" w="12700">
            <a:solidFill>
              <a:srgbClr val="2C5F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640080" y="1078992"/>
            <a:ext cx="50292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SimulationEngine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</a:t>
            </a:r>
            <a:r>
              <a:rPr b="1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citizens</a:t>
            </a: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: Dict[int, Citizen]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</a:t>
            </a:r>
            <a:r>
              <a:rPr b="1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households</a:t>
            </a: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: Dict[int, Household]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 </a:t>
            </a:r>
            <a:r>
              <a:rPr b="1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disease_model</a:t>
            </a: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: DiseaseModel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├── HAZARD_BETA (β = ln HR)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├── BASELINE_HAZARD (λ₀)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├── AGE_HAZARD_GROWTH (γ_age)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└── MORTALITY_GAMMA (γ_d)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1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Citizen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age_months, sex, alive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├── diseases, risk_factors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5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└── cumulative_hazard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6035040" y="1296337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lang="en-US" sz="1800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Cztery</a:t>
            </a: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 klasy modelu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/>
          <p:nvPr/>
        </p:nvSpPr>
        <p:spPr>
          <a:xfrm>
            <a:off x="5943600" y="1799257"/>
            <a:ext cx="2834700" cy="4389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5943600" y="2329609"/>
            <a:ext cx="2834700" cy="4389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5943590" y="2346097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B2A41"/>
                </a:solidFill>
              </a:rPr>
              <a:t>citizens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6007615" y="310230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B7785"/>
                </a:solidFill>
              </a:rPr>
              <a:t>gospodarstwo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5943600" y="2899669"/>
            <a:ext cx="2834700" cy="4389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1"/>
          <p:cNvSpPr/>
          <p:nvPr/>
        </p:nvSpPr>
        <p:spPr>
          <a:xfrm>
            <a:off x="5943600" y="3475140"/>
            <a:ext cx="2834700" cy="4389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1"/>
          <p:cNvSpPr/>
          <p:nvPr/>
        </p:nvSpPr>
        <p:spPr>
          <a:xfrm>
            <a:off x="5943590" y="1813953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A41"/>
                </a:solidFill>
              </a:rPr>
              <a:t>SimulationEngine</a:t>
            </a:r>
            <a:endParaRPr i="0" sz="1200" u="none" cap="none" strike="noStrike">
              <a:solidFill>
                <a:schemeClr val="dk1"/>
              </a:solidFill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5923590" y="2011833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50"/>
              <a:buFont typeface="Calibri"/>
              <a:buNone/>
            </a:pPr>
            <a:r>
              <a:rPr i="0" lang="en-US" sz="1050" u="none" cap="none" strike="noStrike">
                <a:solidFill>
                  <a:srgbClr val="6B7785"/>
                </a:solidFill>
              </a:rPr>
              <a:t>silnik symulacji</a:t>
            </a:r>
            <a:endParaRPr i="0" sz="1050" u="none" cap="none" strike="noStrike">
              <a:solidFill>
                <a:schemeClr val="dk1"/>
              </a:solidFill>
            </a:endParaRPr>
          </a:p>
        </p:txBody>
      </p:sp>
      <p:sp>
        <p:nvSpPr>
          <p:cNvPr id="128" name="Google Shape;128;p11"/>
          <p:cNvSpPr txBox="1"/>
          <p:nvPr/>
        </p:nvSpPr>
        <p:spPr>
          <a:xfrm>
            <a:off x="5943600" y="2465750"/>
            <a:ext cx="3051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899AA"/>
                </a:solidFill>
              </a:rPr>
              <a:t>agenci</a:t>
            </a:r>
            <a:endParaRPr sz="1050">
              <a:solidFill>
                <a:srgbClr val="8899AA"/>
              </a:solidFill>
            </a:endParaRPr>
          </a:p>
        </p:txBody>
      </p:sp>
      <p:sp>
        <p:nvSpPr>
          <p:cNvPr id="129" name="Google Shape;129;p11"/>
          <p:cNvSpPr txBox="1"/>
          <p:nvPr/>
        </p:nvSpPr>
        <p:spPr>
          <a:xfrm>
            <a:off x="5927550" y="2833213"/>
            <a:ext cx="308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h</a:t>
            </a:r>
            <a:r>
              <a:rPr b="1" lang="en-US" sz="1200">
                <a:solidFill>
                  <a:schemeClr val="dk1"/>
                </a:solidFill>
              </a:rPr>
              <a:t>ouseholds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30" name="Google Shape;130;p11"/>
          <p:cNvSpPr txBox="1"/>
          <p:nvPr/>
        </p:nvSpPr>
        <p:spPr>
          <a:xfrm>
            <a:off x="5927550" y="3029863"/>
            <a:ext cx="2044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899AA"/>
                </a:solidFill>
              </a:rPr>
              <a:t>g</a:t>
            </a:r>
            <a:r>
              <a:rPr lang="en-US" sz="1050">
                <a:solidFill>
                  <a:srgbClr val="8899AA"/>
                </a:solidFill>
              </a:rPr>
              <a:t>ospodarstwa domowe</a:t>
            </a:r>
            <a:endParaRPr sz="1050">
              <a:solidFill>
                <a:srgbClr val="8899AA"/>
              </a:solidFill>
            </a:endParaRPr>
          </a:p>
        </p:txBody>
      </p:sp>
      <p:sp>
        <p:nvSpPr>
          <p:cNvPr id="131" name="Google Shape;131;p11"/>
          <p:cNvSpPr txBox="1"/>
          <p:nvPr/>
        </p:nvSpPr>
        <p:spPr>
          <a:xfrm>
            <a:off x="5923600" y="3426300"/>
            <a:ext cx="29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/>
              <a:t>disease_model</a:t>
            </a:r>
            <a:endParaRPr b="1" sz="1200"/>
          </a:p>
        </p:txBody>
      </p:sp>
      <p:sp>
        <p:nvSpPr>
          <p:cNvPr id="132" name="Google Shape;132;p11"/>
          <p:cNvSpPr txBox="1"/>
          <p:nvPr/>
        </p:nvSpPr>
        <p:spPr>
          <a:xfrm>
            <a:off x="5934000" y="3594000"/>
            <a:ext cx="276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899AA"/>
                </a:solidFill>
              </a:rPr>
              <a:t>parametry chorób</a:t>
            </a:r>
            <a:endParaRPr sz="1050">
              <a:solidFill>
                <a:srgbClr val="8899A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/>
          <p:nvPr/>
        </p:nvSpPr>
        <p:spPr>
          <a:xfrm>
            <a:off x="164592" y="457200"/>
            <a:ext cx="45600" cy="4206300"/>
          </a:xfrm>
          <a:prstGeom prst="rect">
            <a:avLst/>
          </a:prstGeom>
          <a:solidFill>
            <a:srgbClr val="A07840">
              <a:alpha val="45100"/>
            </a:srgbClr>
          </a:solidFill>
          <a:ln cap="flat" cmpd="sng" w="12700">
            <a:solidFill>
              <a:srgbClr val="A07840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365710" y="182805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Parametry modelu i ich optymalizacja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365760" y="749808"/>
            <a:ext cx="8412600" cy="18300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365760" y="749808"/>
            <a:ext cx="685800" cy="456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9791950" y="2565325"/>
            <a:ext cx="2292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"/>
          <p:cNvSpPr txBox="1"/>
          <p:nvPr/>
        </p:nvSpPr>
        <p:spPr>
          <a:xfrm>
            <a:off x="365750" y="872200"/>
            <a:ext cx="84126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Parametry modelu:</a:t>
            </a:r>
            <a:endParaRPr sz="1800">
              <a:solidFill>
                <a:srgbClr val="34495E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b="1" lang="en-US" sz="1800">
                <a:solidFill>
                  <a:srgbClr val="34495E"/>
                </a:solidFill>
              </a:rPr>
              <a:t>FM (Fertility Multiplier) </a:t>
            </a:r>
            <a:r>
              <a:rPr lang="en-US" sz="1800">
                <a:solidFill>
                  <a:srgbClr val="34495E"/>
                </a:solidFill>
              </a:rPr>
              <a:t>- mnożnik płodności</a:t>
            </a:r>
            <a:endParaRPr sz="1800">
              <a:solidFill>
                <a:srgbClr val="34495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b="1" lang="en-US" sz="1800">
                <a:solidFill>
                  <a:srgbClr val="34495E"/>
                </a:solidFill>
              </a:rPr>
              <a:t>MM  (Mortality Multiplier) </a:t>
            </a:r>
            <a:r>
              <a:rPr lang="en-US" sz="1800">
                <a:solidFill>
                  <a:srgbClr val="34495E"/>
                </a:solidFill>
              </a:rPr>
              <a:t>-</a:t>
            </a:r>
            <a:r>
              <a:rPr b="1" lang="en-US" sz="1800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mnożnik śmiertelności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Optymalizacja parametrów: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Metoda</a:t>
            </a:r>
            <a:r>
              <a:rPr b="1" lang="en-US" sz="1800">
                <a:solidFill>
                  <a:srgbClr val="34495E"/>
                </a:solidFill>
              </a:rPr>
              <a:t> gridsearch </a:t>
            </a:r>
            <a:r>
              <a:rPr lang="en-US" sz="1800">
                <a:solidFill>
                  <a:srgbClr val="34495E"/>
                </a:solidFill>
              </a:rPr>
              <a:t>(przeszukiwanie przestrzeni FM i MM, aby znaleźć punkty stabilności populacji):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Przestrzeń poszukiwań: |FM|=|MM| = 12.</a:t>
            </a:r>
            <a:br>
              <a:rPr lang="en-US" sz="1800">
                <a:solidFill>
                  <a:srgbClr val="34495E"/>
                </a:solidFill>
              </a:rPr>
            </a:br>
            <a:r>
              <a:rPr lang="en-US" sz="1800">
                <a:solidFill>
                  <a:srgbClr val="34495E"/>
                </a:solidFill>
              </a:rPr>
              <a:t>FM={0.4, …, 2.5}, MM={0.3, …, 1.6}.</a:t>
            </a:r>
            <a:br>
              <a:rPr lang="en-US" sz="1800">
                <a:solidFill>
                  <a:srgbClr val="34495E"/>
                </a:solidFill>
              </a:rPr>
            </a:br>
            <a:r>
              <a:rPr lang="en-US" sz="1800">
                <a:solidFill>
                  <a:srgbClr val="34495E"/>
                </a:solidFill>
              </a:rPr>
              <a:t>Razem 12 × 12 = 144 kombinacje.</a:t>
            </a:r>
            <a:endParaRPr sz="1800">
              <a:solidFill>
                <a:srgbClr val="34495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Wyniki optymalizacji parametrów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3" name="Google Shape;153;p13"/>
          <p:cNvGraphicFramePr/>
          <p:nvPr/>
        </p:nvGraphicFramePr>
        <p:xfrm>
          <a:off x="1583250" y="11758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{F9D9AA40-627E-45EA-9933-2403FE59164D}</a:tableStyleId>
              </a:tblPr>
              <a:tblGrid>
                <a:gridCol w="3630225"/>
                <a:gridCol w="24306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4495E"/>
                          </a:solidFill>
                        </a:rPr>
                        <a:t>Tryb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4495E"/>
                          </a:solidFill>
                        </a:rPr>
                        <a:t>Czas obliczeń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Przybliżony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30 s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Pełny </a:t>
                      </a: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model agentowy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~50 min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13"/>
          <p:cNvSpPr/>
          <p:nvPr/>
        </p:nvSpPr>
        <p:spPr>
          <a:xfrm>
            <a:off x="498875" y="3822238"/>
            <a:ext cx="8229600" cy="8412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C9A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457200" y="3822238"/>
            <a:ext cx="54900" cy="8412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539553" y="3822238"/>
            <a:ext cx="8064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200"/>
              <a:buFont typeface="Calibri"/>
              <a:buNone/>
            </a:pPr>
            <a:r>
              <a:rPr i="0" lang="en-US" sz="1800" u="none" cap="none" strike="noStrike">
                <a:solidFill>
                  <a:srgbClr val="34495E"/>
                </a:solidFill>
              </a:rPr>
              <a:t>Strategia 2-stopniowa: </a:t>
            </a:r>
            <a:r>
              <a:rPr lang="en-US" sz="1800">
                <a:solidFill>
                  <a:srgbClr val="34495E"/>
                </a:solidFill>
              </a:rPr>
              <a:t>tryb przybliżony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do szybkiej eksploracji,</a:t>
            </a:r>
            <a:r>
              <a:rPr lang="en-US" sz="1800">
                <a:solidFill>
                  <a:srgbClr val="34495E"/>
                </a:solidFill>
              </a:rPr>
              <a:t> model agentowy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d</a:t>
            </a:r>
            <a:r>
              <a:rPr lang="en-US" sz="1800">
                <a:solidFill>
                  <a:srgbClr val="34495E"/>
                </a:solidFill>
              </a:rPr>
              <a:t>o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weryfikacji. 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484650" y="2581788"/>
            <a:ext cx="8174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Tryb przybliżony używa matematycznego modelu bez uruchamiania modelu agentowego. Brak modelowania struktury wiekowej.</a:t>
            </a:r>
            <a:endParaRPr sz="1800">
              <a:solidFill>
                <a:srgbClr val="34495E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Reguła stabilności populacji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365710" y="746432"/>
            <a:ext cx="8412600" cy="18300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4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457225" y="1018260"/>
            <a:ext cx="3931800" cy="12753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"/>
          <p:cNvSpPr/>
          <p:nvPr/>
        </p:nvSpPr>
        <p:spPr>
          <a:xfrm>
            <a:off x="640092" y="1091406"/>
            <a:ext cx="3566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300"/>
              <a:buFont typeface="Georgia"/>
              <a:buNone/>
            </a:pPr>
            <a:r>
              <a:rPr b="1" lang="en-US" sz="1800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Tryb przybliżony</a:t>
            </a: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640088" y="1493741"/>
            <a:ext cx="35661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ourier New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4754888" y="1018262"/>
            <a:ext cx="3931800" cy="12753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F6F1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4892052" y="1091406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300"/>
              <a:buFont typeface="Georgia"/>
              <a:buNone/>
            </a:pPr>
            <a:r>
              <a:rPr b="1" lang="en-US" sz="1800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Model agentowy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457200" y="3873251"/>
            <a:ext cx="8229600" cy="7902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C9A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457200" y="3873251"/>
            <a:ext cx="45600" cy="7902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/>
          <p:nvPr/>
        </p:nvSpPr>
        <p:spPr>
          <a:xfrm>
            <a:off x="539550" y="3873223"/>
            <a:ext cx="80649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34495E"/>
                </a:solidFill>
              </a:rPr>
              <a:t>Punkt stabilności: wymagana jest </a:t>
            </a:r>
            <a:r>
              <a:rPr lang="en-US" sz="1800">
                <a:solidFill>
                  <a:srgbClr val="34495E"/>
                </a:solidFill>
              </a:rPr>
              <a:t>około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dwukrotnie wyższ</a:t>
            </a:r>
            <a:r>
              <a:rPr lang="en-US" sz="1800">
                <a:solidFill>
                  <a:srgbClr val="34495E"/>
                </a:solidFill>
              </a:rPr>
              <a:t>a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płodnoś</a:t>
            </a:r>
            <a:r>
              <a:rPr lang="en-US" sz="1800">
                <a:solidFill>
                  <a:srgbClr val="34495E"/>
                </a:solidFill>
              </a:rPr>
              <a:t>ć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niż obecnie, aby populacja przestała się kurczyć.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548640" y="2349015"/>
            <a:ext cx="804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300"/>
              <a:buFont typeface="Georgia"/>
              <a:buNone/>
            </a:pPr>
            <a:r>
              <a:rPr b="1" i="0" lang="en-US" sz="17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Funkcja oceny stabilności populacji: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457200" y="2669050"/>
            <a:ext cx="8229600" cy="1097400"/>
          </a:xfrm>
          <a:prstGeom prst="rect">
            <a:avLst/>
          </a:prstGeom>
          <a:solidFill>
            <a:srgbClr val="FDFDFB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457200" y="2669050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ourier New"/>
              <a:buNone/>
            </a:pPr>
            <a:r>
              <a:rPr b="0" i="0" lang="en-US" sz="1800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score = (N_final − N_init) / N_init </a:t>
            </a:r>
            <a:r>
              <a:rPr lang="en-US" sz="1800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0" i="0" lang="en-US" sz="1800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100%</a:t>
            </a:r>
            <a:endParaRPr b="0" i="0" sz="1800" u="none" cap="none" strike="noStrike">
              <a:solidFill>
                <a:srgbClr val="1B2A4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600"/>
              <a:buFont typeface="Courier New"/>
              <a:buNone/>
            </a:pPr>
            <a:r>
              <a:rPr lang="en-US" sz="1800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N_init</a:t>
            </a:r>
            <a:r>
              <a:rPr lang="en-US" sz="1800">
                <a:solidFill>
                  <a:srgbClr val="1B2A41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- liczebność populacji początkowej</a:t>
            </a:r>
            <a:br>
              <a:rPr i="0" lang="en-US" sz="1800" u="none" cap="none" strike="noStrike">
                <a:solidFill>
                  <a:srgbClr val="1B2A41"/>
                </a:solidFill>
              </a:rPr>
            </a:br>
            <a:r>
              <a:rPr i="0" lang="en-US" sz="1800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N_final</a:t>
            </a:r>
            <a:r>
              <a:rPr i="0" lang="en-US" sz="1800" u="none" cap="none" strike="noStrike">
                <a:solidFill>
                  <a:srgbClr val="1B2A41"/>
                </a:solidFill>
              </a:rPr>
              <a:t>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- liczebność populacj</a:t>
            </a:r>
            <a:r>
              <a:rPr lang="en-US" sz="1800">
                <a:solidFill>
                  <a:srgbClr val="34495E"/>
                </a:solidFill>
              </a:rPr>
              <a:t>i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końcow</a:t>
            </a:r>
            <a:r>
              <a:rPr lang="en-US" sz="1800">
                <a:solidFill>
                  <a:srgbClr val="34495E"/>
                </a:solidFill>
              </a:rPr>
              <a:t>ej</a:t>
            </a:r>
            <a:endParaRPr i="0" sz="1800" u="none" cap="none" strike="noStrike">
              <a:solidFill>
                <a:srgbClr val="34495E"/>
              </a:solidFill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164592" y="457200"/>
            <a:ext cx="45600" cy="4206300"/>
          </a:xfrm>
          <a:prstGeom prst="rect">
            <a:avLst/>
          </a:prstGeom>
          <a:solidFill>
            <a:srgbClr val="A07840">
              <a:alpha val="45100"/>
            </a:srgbClr>
          </a:solidFill>
          <a:ln cap="flat" cmpd="sng" w="12700">
            <a:solidFill>
              <a:srgbClr val="A07840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4937788" y="1512016"/>
            <a:ext cx="35661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00"/>
              <a:buFont typeface="Courier New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500" y="1525833"/>
            <a:ext cx="3566100" cy="412917"/>
          </a:xfrm>
          <a:prstGeom prst="rect">
            <a:avLst/>
          </a:prstGeom>
          <a:solidFill>
            <a:srgbClr val="F6F1E8"/>
          </a:solidFill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4825" y="1512022"/>
            <a:ext cx="3071942" cy="5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164592" y="457200"/>
            <a:ext cx="45600" cy="4206300"/>
          </a:xfrm>
          <a:prstGeom prst="rect">
            <a:avLst/>
          </a:prstGeom>
          <a:solidFill>
            <a:srgbClr val="A07840">
              <a:alpha val="45100"/>
            </a:srgbClr>
          </a:solidFill>
          <a:ln cap="flat" cmpd="sng" w="12700">
            <a:solidFill>
              <a:srgbClr val="A07840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365760" y="182880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Wyniki optymalizacji parametrów</a:t>
            </a: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65760" y="749808"/>
            <a:ext cx="8412600" cy="18300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365760" y="749808"/>
            <a:ext cx="685800" cy="456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15" title="wykresy_funkcji_abm.jpg"/>
          <p:cNvPicPr preferRelativeResize="0"/>
          <p:nvPr/>
        </p:nvPicPr>
        <p:blipFill rotWithShape="1">
          <a:blip r:embed="rId3">
            <a:alphaModFix/>
          </a:blip>
          <a:srcRect b="48517" l="0" r="13741" t="5724"/>
          <a:stretch/>
        </p:blipFill>
        <p:spPr>
          <a:xfrm>
            <a:off x="365750" y="1513216"/>
            <a:ext cx="4119852" cy="2338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 title="wykresy_funkcji_abm.jpg"/>
          <p:cNvPicPr preferRelativeResize="0"/>
          <p:nvPr/>
        </p:nvPicPr>
        <p:blipFill rotWithShape="1">
          <a:blip r:embed="rId3">
            <a:alphaModFix/>
          </a:blip>
          <a:srcRect b="0" l="495" r="495" t="55889"/>
          <a:stretch/>
        </p:blipFill>
        <p:spPr>
          <a:xfrm>
            <a:off x="4691601" y="1684246"/>
            <a:ext cx="4187373" cy="1996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07840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2C5F7C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9600"/>
              <a:buFont typeface="Georgia"/>
              <a:buNone/>
            </a:pPr>
            <a:r>
              <a:rPr b="1" lang="en-US" sz="9600">
                <a:solidFill>
                  <a:srgbClr val="C9A87B"/>
                </a:solidFill>
                <a:latin typeface="Georgia"/>
                <a:ea typeface="Georgia"/>
                <a:cs typeface="Georgia"/>
                <a:sym typeface="Georgia"/>
              </a:rPr>
              <a:t>I</a:t>
            </a:r>
            <a:r>
              <a:rPr b="1" i="0" lang="en-US" sz="9600" u="none" cap="none" strike="noStrike">
                <a:solidFill>
                  <a:srgbClr val="C9A87B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Czynniki ryzyka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C9A87B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800">
                <a:solidFill>
                  <a:srgbClr val="C9A87B"/>
                </a:solidFill>
                <a:latin typeface="Calibri"/>
                <a:ea typeface="Calibri"/>
                <a:cs typeface="Calibri"/>
                <a:sym typeface="Calibri"/>
              </a:rPr>
              <a:t>zynniki ryzyka </a:t>
            </a:r>
            <a:r>
              <a:rPr lang="en-US" sz="1800">
                <a:solidFill>
                  <a:srgbClr val="C9A87B"/>
                </a:solidFill>
              </a:rPr>
              <a:t>·</a:t>
            </a:r>
            <a:r>
              <a:rPr lang="en-US" sz="1800">
                <a:solidFill>
                  <a:srgbClr val="C9A87B"/>
                </a:solidFill>
                <a:latin typeface="Calibri"/>
                <a:ea typeface="Calibri"/>
                <a:cs typeface="Calibri"/>
                <a:sym typeface="Calibri"/>
              </a:rPr>
              <a:t> Model Coxa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3931920" y="3429000"/>
            <a:ext cx="1280160" cy="36576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"/>
          <p:cNvSpPr/>
          <p:nvPr/>
        </p:nvSpPr>
        <p:spPr>
          <a:xfrm>
            <a:off x="164592" y="457200"/>
            <a:ext cx="45600" cy="4206300"/>
          </a:xfrm>
          <a:prstGeom prst="rect">
            <a:avLst/>
          </a:prstGeom>
          <a:solidFill>
            <a:srgbClr val="A07840">
              <a:alpha val="45100"/>
            </a:srgbClr>
          </a:solidFill>
          <a:ln cap="flat" cmpd="sng" w="12700">
            <a:solidFill>
              <a:srgbClr val="A07840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365760" y="182880"/>
            <a:ext cx="8412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Czynniki i współczynniki ryzyka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365760" y="749808"/>
            <a:ext cx="8412600" cy="18300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365760" y="749808"/>
            <a:ext cx="685800" cy="456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451500" y="4348092"/>
            <a:ext cx="841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4495E"/>
                </a:solidFill>
              </a:rPr>
              <a:t>Współczynnik ryzyka </a:t>
            </a:r>
            <a:r>
              <a:rPr lang="en-US" sz="1800">
                <a:solidFill>
                  <a:srgbClr val="34495E"/>
                </a:solidFill>
              </a:rPr>
              <a:t>(</a:t>
            </a:r>
            <a:r>
              <a:rPr lang="en-US" sz="1800">
                <a:solidFill>
                  <a:srgbClr val="34495E"/>
                </a:solidFill>
              </a:rPr>
              <a:t>HR-hazard ratio): ile razy zwiększa się chwilowe ryzyko wystąpienia zdarzenia (choroby), jeżeli dany czynnik ryzyka jest obecny.</a:t>
            </a:r>
            <a:endParaRPr/>
          </a:p>
        </p:txBody>
      </p:sp>
      <p:graphicFrame>
        <p:nvGraphicFramePr>
          <p:cNvPr id="213" name="Google Shape;213;p17"/>
          <p:cNvGraphicFramePr/>
          <p:nvPr/>
        </p:nvGraphicFramePr>
        <p:xfrm>
          <a:off x="863642" y="8650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{D6E9B37F-62DC-447C-B9ED-6B1240F0E8E5}</a:tableStyleId>
              </a:tblPr>
              <a:tblGrid>
                <a:gridCol w="2692975"/>
                <a:gridCol w="2383550"/>
                <a:gridCol w="2211575"/>
              </a:tblGrid>
              <a:tr h="367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34495E"/>
                          </a:solidFill>
                        </a:rPr>
                        <a:t>Czynniki ryzyka</a:t>
                      </a:r>
                      <a:endParaRPr b="1"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34495E"/>
                          </a:solidFill>
                        </a:rPr>
                        <a:t>HR · choroby serca</a:t>
                      </a:r>
                      <a:endParaRPr b="1"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34495E"/>
                          </a:solidFill>
                        </a:rPr>
                        <a:t>HR · rak płuc</a:t>
                      </a:r>
                      <a:endParaRPr b="1"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palenie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2.5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15.0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otyłość (BMI ≥ 30)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1.7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-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aktywność fizyczna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1.4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1.2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nadużywanie alkoholu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1.3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1.3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wysoki poziom cholesterolu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2.0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-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nadciśnienie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2.2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-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uwarunkowania genetyczne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1.5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34495E"/>
                          </a:solidFill>
                        </a:rPr>
                        <a:t>1.5</a:t>
                      </a:r>
                      <a:endParaRPr sz="1600">
                        <a:solidFill>
                          <a:srgbClr val="34495E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Model Coxa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3" name="Google Shape;2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7913" y="1730056"/>
            <a:ext cx="4608172" cy="5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924" y="3520874"/>
            <a:ext cx="1928151" cy="6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3320" y="970133"/>
            <a:ext cx="150283" cy="18786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453275" y="1899947"/>
            <a:ext cx="8135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gdzie: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• </a:t>
            </a:r>
            <a:r>
              <a:rPr lang="en-US" sz="1800">
                <a:solidFill>
                  <a:srgbClr val="34495E"/>
                </a:solidFill>
              </a:rPr>
              <a:t>      - bazowe ryzyko miesięczne w wieku 30 lat.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34495E"/>
                </a:solidFill>
              </a:rPr>
              <a:t>•          - tempo wykładniczego wzrostu ryzyka z wiekiem; model Gompertza.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•        </a:t>
            </a:r>
            <a:r>
              <a:rPr lang="en-US" sz="1800">
                <a:solidFill>
                  <a:srgbClr val="34495E"/>
                </a:solidFill>
              </a:rPr>
              <a:t>                   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•                - czy agent ma czynnik ryzyka   .</a:t>
            </a:r>
            <a:endParaRPr sz="1800">
              <a:solidFill>
                <a:srgbClr val="34495E"/>
              </a:solidFill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365700" y="833134"/>
            <a:ext cx="8412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Dla agenta w wieku    (lata) z czynnikami ryzyka</a:t>
            </a:r>
            <a:endParaRPr sz="18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i dla choroby        {choroby układu krążenia, rak płuc}, miesięczny przyrost ryzyka wystąpienia danej choroby    wynosi:</a:t>
            </a:r>
            <a:endParaRPr sz="1800">
              <a:solidFill>
                <a:srgbClr val="34495E"/>
              </a:solidFill>
            </a:endParaRPr>
          </a:p>
        </p:txBody>
      </p:sp>
      <p:pic>
        <p:nvPicPr>
          <p:cNvPr id="228" name="Google Shape;22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1650" y="940475"/>
            <a:ext cx="1996624" cy="2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38454" y="1197159"/>
            <a:ext cx="378823" cy="2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2726" y="2295841"/>
            <a:ext cx="378825" cy="303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2724" y="2598893"/>
            <a:ext cx="542638" cy="2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2725" y="2815268"/>
            <a:ext cx="378825" cy="327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2713" y="3127106"/>
            <a:ext cx="963025" cy="281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85800" y="2826300"/>
            <a:ext cx="963016" cy="32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51541" y="2832588"/>
            <a:ext cx="234256" cy="2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712775" y="3081056"/>
            <a:ext cx="127775" cy="2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/>
        </p:nvSpPr>
        <p:spPr>
          <a:xfrm>
            <a:off x="504458" y="4131322"/>
            <a:ext cx="813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•               - </a:t>
            </a:r>
            <a:r>
              <a:rPr lang="en-US" sz="1800">
                <a:solidFill>
                  <a:srgbClr val="34495E"/>
                </a:solidFill>
              </a:rPr>
              <a:t>rośnie monotonicznie i reprezentuje biologiczne uszkodzenie skumulowane.</a:t>
            </a:r>
            <a:endParaRPr sz="1800">
              <a:solidFill>
                <a:srgbClr val="34495E"/>
              </a:solidFill>
            </a:endParaRPr>
          </a:p>
        </p:txBody>
      </p:sp>
      <p:pic>
        <p:nvPicPr>
          <p:cNvPr id="238" name="Google Shape;238;p18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51050" y="4225421"/>
            <a:ext cx="835227" cy="2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8"/>
          <p:cNvPicPr preferRelativeResize="0"/>
          <p:nvPr/>
        </p:nvPicPr>
        <p:blipFill rotWithShape="1">
          <a:blip r:embed="rId7">
            <a:alphaModFix/>
          </a:blip>
          <a:srcRect b="0" l="0" r="60332" t="0"/>
          <a:stretch/>
        </p:blipFill>
        <p:spPr>
          <a:xfrm>
            <a:off x="3185002" y="1463351"/>
            <a:ext cx="150275" cy="2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Przykład: 60-l</a:t>
            </a: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atek</a:t>
            </a: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 z 3 czynnikami ryz</a:t>
            </a: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yka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365760" y="749808"/>
            <a:ext cx="8412600" cy="18300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457200" y="883510"/>
            <a:ext cx="80466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50"/>
              <a:buFont typeface="Calibri"/>
              <a:buNone/>
            </a:pPr>
            <a:r>
              <a:rPr i="1" lang="en-US" sz="1800">
                <a:solidFill>
                  <a:srgbClr val="34495E"/>
                </a:solidFill>
              </a:rPr>
              <a:t>Czynniki ryzyka: palenie papierosów, wysoki cholesterol, nadciśnienie.</a:t>
            </a:r>
            <a:endParaRPr i="1" sz="1800"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50"/>
              <a:buFont typeface="Calibri"/>
              <a:buNone/>
            </a:pPr>
            <a:r>
              <a:rPr i="1" lang="en-US" sz="1800">
                <a:solidFill>
                  <a:srgbClr val="34495E"/>
                </a:solidFill>
              </a:rPr>
              <a:t>Badamy miesięczne ryzyko wystąpienia chorób układu krążenia.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457200" y="1417325"/>
            <a:ext cx="8274000" cy="868800"/>
          </a:xfrm>
          <a:prstGeom prst="rect">
            <a:avLst/>
          </a:prstGeom>
          <a:solidFill>
            <a:srgbClr val="FDFDFB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457200" y="1440075"/>
            <a:ext cx="8138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ourier New"/>
              <a:buNone/>
            </a:pPr>
            <a:r>
              <a:rPr lang="en-US" sz="1800">
                <a:solidFill>
                  <a:srgbClr val="34495E"/>
                </a:solidFill>
              </a:rPr>
              <a:t>Bez czynników ryzyka:</a:t>
            </a:r>
            <a:endParaRPr sz="1800"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250"/>
              <a:buFont typeface="Courier New"/>
              <a:buNone/>
            </a:pPr>
            <a:r>
              <a:rPr lang="en-US" sz="1800">
                <a:solidFill>
                  <a:srgbClr val="34495E"/>
                </a:solidFill>
              </a:rPr>
              <a:t>Z czynnikami ryzyka:</a:t>
            </a:r>
            <a:endParaRPr sz="1800">
              <a:solidFill>
                <a:srgbClr val="34495E"/>
              </a:solidFill>
            </a:endParaRPr>
          </a:p>
        </p:txBody>
      </p:sp>
      <p:graphicFrame>
        <p:nvGraphicFramePr>
          <p:cNvPr id="252" name="Google Shape;252;p19"/>
          <p:cNvGraphicFramePr/>
          <p:nvPr/>
        </p:nvGraphicFramePr>
        <p:xfrm>
          <a:off x="45720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{F9D9AA40-627E-45EA-9933-2403FE59164D}</a:tableStyleId>
              </a:tblPr>
              <a:tblGrid>
                <a:gridCol w="2573750"/>
                <a:gridCol w="19982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4495E"/>
                          </a:solidFill>
                        </a:rPr>
                        <a:t>Scenariusz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4495E"/>
                          </a:solidFill>
                        </a:rPr>
                        <a:t>h / mies.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60-latek bez </a:t>
                      </a: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czynników ryzyka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3.63  10⁻⁴ 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60-latek z 3 </a:t>
                      </a: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czynnikami ryzyka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3.99 </a:t>
                      </a: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 </a:t>
                      </a: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10⁻³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Relacja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4495E"/>
                          </a:solidFill>
                        </a:rPr>
                        <a:t>11</a:t>
                      </a:r>
                      <a:r>
                        <a:rPr b="1" lang="en-US" sz="1800">
                          <a:solidFill>
                            <a:srgbClr val="34495E"/>
                          </a:solidFill>
                        </a:rPr>
                        <a:t>×</a:t>
                      </a:r>
                      <a:endParaRPr b="1"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19"/>
          <p:cNvSpPr/>
          <p:nvPr/>
        </p:nvSpPr>
        <p:spPr>
          <a:xfrm>
            <a:off x="5305445" y="2697438"/>
            <a:ext cx="3383400" cy="14631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C9A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5305445" y="2697438"/>
            <a:ext cx="63900" cy="14631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5406030" y="2697413"/>
            <a:ext cx="3182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00"/>
              <a:buFont typeface="Calibri"/>
              <a:buNone/>
            </a:pPr>
            <a:r>
              <a:rPr lang="en-US" sz="1800">
                <a:solidFill>
                  <a:srgbClr val="34495E"/>
                </a:solidFill>
              </a:rPr>
              <a:t>Ryzyko wystąpienia chorób układu krążenia przy udziale podanych czynników ryzyka </a:t>
            </a:r>
            <a:r>
              <a:rPr lang="en-US" sz="1800">
                <a:solidFill>
                  <a:srgbClr val="34495E"/>
                </a:solidFill>
              </a:rPr>
              <a:t>zwiększa się 11-krotnie</a:t>
            </a:r>
            <a:r>
              <a:rPr lang="en-US" sz="1800">
                <a:solidFill>
                  <a:srgbClr val="34495E"/>
                </a:solidFill>
              </a:rPr>
              <a:t>.</a:t>
            </a:r>
            <a:endParaRPr i="0" sz="1300" u="none" cap="none" strike="noStrike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</a:endParaRPr>
          </a:p>
        </p:txBody>
      </p:sp>
      <p:pic>
        <p:nvPicPr>
          <p:cNvPr id="256" name="Google Shape;2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0673" y="2475176"/>
            <a:ext cx="225147" cy="27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3538" y="1890022"/>
            <a:ext cx="6035324" cy="31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2066" y="1617472"/>
            <a:ext cx="3042015" cy="27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0653" y="2868278"/>
            <a:ext cx="118475" cy="2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0653" y="3496922"/>
            <a:ext cx="118475" cy="2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Walidacja modelu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0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"/>
          <p:cNvSpPr/>
          <p:nvPr/>
        </p:nvSpPr>
        <p:spPr>
          <a:xfrm>
            <a:off x="613800" y="947450"/>
            <a:ext cx="80466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300"/>
              <a:buFont typeface="Calibri"/>
              <a:buNone/>
            </a:pPr>
            <a:r>
              <a:rPr i="1" lang="en-US" sz="1800">
                <a:solidFill>
                  <a:srgbClr val="34495E"/>
                </a:solidFill>
              </a:rPr>
              <a:t>Test</a:t>
            </a:r>
            <a:r>
              <a:rPr i="1" lang="en-US" sz="1800" u="none" cap="none" strike="noStrike">
                <a:solidFill>
                  <a:srgbClr val="34495E"/>
                </a:solidFill>
              </a:rPr>
              <a:t>: 5 000 agentów × 10 lat. Porównanie ryzyka chorób u osób </a:t>
            </a:r>
            <a:r>
              <a:rPr i="1" lang="en-US" sz="1800">
                <a:solidFill>
                  <a:srgbClr val="34495E"/>
                </a:solidFill>
              </a:rPr>
              <a:t>p</a:t>
            </a:r>
            <a:r>
              <a:rPr i="1" lang="en-US" sz="1800" u="none" cap="none" strike="noStrike">
                <a:solidFill>
                  <a:srgbClr val="34495E"/>
                </a:solidFill>
              </a:rPr>
              <a:t>al</a:t>
            </a:r>
            <a:r>
              <a:rPr i="1" lang="en-US" sz="1800">
                <a:solidFill>
                  <a:srgbClr val="34495E"/>
                </a:solidFill>
              </a:rPr>
              <a:t>ących i osób </a:t>
            </a:r>
            <a:r>
              <a:rPr i="1" lang="en-US" sz="1800" u="none" cap="none" strike="noStrike">
                <a:solidFill>
                  <a:srgbClr val="34495E"/>
                </a:solidFill>
              </a:rPr>
              <a:t>niepalących.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graphicFrame>
        <p:nvGraphicFramePr>
          <p:cNvPr id="271" name="Google Shape;271;p20"/>
          <p:cNvGraphicFramePr/>
          <p:nvPr/>
        </p:nvGraphicFramePr>
        <p:xfrm>
          <a:off x="677300" y="16250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{F9D9AA40-627E-45EA-9933-2403FE59164D}</a:tableStyleId>
              </a:tblPr>
              <a:tblGrid>
                <a:gridCol w="1729450"/>
                <a:gridCol w="3030675"/>
                <a:gridCol w="3340825"/>
              </a:tblGrid>
              <a:tr h="708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Grupa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Skumulowane ryzyko </a:t>
                      </a:r>
                      <a:r>
                        <a:rPr b="1" lang="en-US" sz="1800">
                          <a:solidFill>
                            <a:srgbClr val="34495E"/>
                          </a:solidFill>
                        </a:rPr>
                        <a:t>chorób układu krążenia</a:t>
                      </a:r>
                      <a:endParaRPr b="1"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Skumulowane ryzyko </a:t>
                      </a:r>
                      <a:r>
                        <a:rPr b="1" lang="en-US" sz="1800">
                          <a:solidFill>
                            <a:srgbClr val="34495E"/>
                          </a:solidFill>
                        </a:rPr>
                        <a:t>raka płuc</a:t>
                      </a:r>
                      <a:endParaRPr b="1"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43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Osoby palące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0.177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0.0423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43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Osoby n</a:t>
                      </a: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iepaląc</a:t>
                      </a: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e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34495E"/>
                          </a:solidFill>
                        </a:rPr>
                        <a:t>0.063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0.0027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  <a:tr h="430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1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Relacja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34495E"/>
                          </a:solidFill>
                        </a:rPr>
                        <a:t>2.8×</a:t>
                      </a:r>
                      <a:endParaRPr b="1"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495E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800">
                          <a:solidFill>
                            <a:srgbClr val="34495E"/>
                          </a:solidFill>
                        </a:rPr>
                        <a:t>16×</a:t>
                      </a:r>
                      <a:endParaRPr sz="1800" u="none" cap="none" strike="noStrike">
                        <a:solidFill>
                          <a:srgbClr val="34495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p20"/>
          <p:cNvSpPr/>
          <p:nvPr/>
        </p:nvSpPr>
        <p:spPr>
          <a:xfrm>
            <a:off x="677300" y="3966850"/>
            <a:ext cx="8100900" cy="6966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C9A8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677325" y="4084300"/>
            <a:ext cx="810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4495E"/>
                </a:solidFill>
              </a:rPr>
              <a:t>U osób palących zwiększa się ryzyko wystąpienia każdej z chorób.</a:t>
            </a:r>
            <a:endParaRPr sz="1800">
              <a:solidFill>
                <a:srgbClr val="34495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Aplikacja interaktywna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1512400" y="1097350"/>
            <a:ext cx="13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Kontrolki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548650" y="1463050"/>
            <a:ext cx="3313500" cy="33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Rozmiar populacji: </a:t>
            </a:r>
            <a:r>
              <a:rPr lang="en-US" sz="1800">
                <a:solidFill>
                  <a:srgbClr val="34495E"/>
                </a:solidFill>
              </a:rPr>
              <a:t>1 tys.-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100 </a:t>
            </a:r>
            <a:r>
              <a:rPr lang="en-US" sz="1800">
                <a:solidFill>
                  <a:srgbClr val="34495E"/>
                </a:solidFill>
              </a:rPr>
              <a:t>tys. 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Czas symulacji: 5</a:t>
            </a:r>
            <a:r>
              <a:rPr lang="en-US" sz="1800">
                <a:solidFill>
                  <a:srgbClr val="34495E"/>
                </a:solidFill>
              </a:rPr>
              <a:t>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50 lat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FM</a:t>
            </a:r>
            <a:r>
              <a:rPr lang="en-US" sz="1800">
                <a:solidFill>
                  <a:srgbClr val="34495E"/>
                </a:solidFill>
              </a:rPr>
              <a:t>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(</a:t>
            </a:r>
            <a:r>
              <a:rPr lang="en-US" sz="1800">
                <a:solidFill>
                  <a:srgbClr val="34495E"/>
                </a:solidFill>
              </a:rPr>
              <a:t>mnożnik płodności)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: 0.</a:t>
            </a:r>
            <a:r>
              <a:rPr lang="en-US" sz="1800">
                <a:solidFill>
                  <a:srgbClr val="34495E"/>
                </a:solidFill>
              </a:rPr>
              <a:t>4-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2.5</a:t>
            </a:r>
            <a:endParaRPr sz="1800">
              <a:solidFill>
                <a:srgbClr val="34495E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MM (m</a:t>
            </a:r>
            <a:r>
              <a:rPr lang="en-US" sz="1800">
                <a:solidFill>
                  <a:srgbClr val="34495E"/>
                </a:solidFill>
              </a:rPr>
              <a:t>nożnik smiertelności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): 0.3</a:t>
            </a:r>
            <a:r>
              <a:rPr lang="en-US" sz="1800">
                <a:solidFill>
                  <a:srgbClr val="34495E"/>
                </a:solidFill>
              </a:rPr>
              <a:t>-1.6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7 suwaków czynników ryzyka - (0.0 → 3.0)</a:t>
            </a:r>
            <a:endParaRPr i="0" sz="1800" u="none" cap="none" strike="noStrike">
              <a:solidFill>
                <a:srgbClr val="34495E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4495E"/>
              </a:solidFill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5737250" y="1097350"/>
            <a:ext cx="160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Scenariusze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6" name="Google Shape;286;p21"/>
          <p:cNvGraphicFramePr/>
          <p:nvPr/>
        </p:nvGraphicFramePr>
        <p:xfrm>
          <a:off x="4200500" y="1951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{D6E9B37F-62DC-447C-B9ED-6B1240F0E8E5}</a:tableStyleId>
              </a:tblPr>
              <a:tblGrid>
                <a:gridCol w="2253900"/>
                <a:gridCol w="2318100"/>
              </a:tblGrid>
              <a:tr h="50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Nierealnie zdrowa populacja</a:t>
                      </a:r>
                      <a:endParaRPr sz="1800"/>
                    </a:p>
                  </a:txBody>
                  <a:tcPr marT="91425" marB="91425" marR="91425" marL="91425" anchor="ctr"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Wszystkie czynniki ryzyka = 0.5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0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Najlepszy realny wariant</a:t>
                      </a:r>
                      <a:endParaRPr sz="1800"/>
                    </a:p>
                  </a:txBody>
                  <a:tcPr marT="91425" marB="91425" marR="91425" marL="91425" anchor="ctr">
                    <a:solidFill>
                      <a:srgbClr val="A078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Wszystkie czynniki ryzyka = 0.7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656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Najgorszy wariant</a:t>
                      </a:r>
                      <a:endParaRPr sz="1800"/>
                    </a:p>
                  </a:txBody>
                  <a:tcPr marT="91425" marB="91425" marR="91425" marL="91425" anchor="ctr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34495E"/>
                          </a:solidFill>
                        </a:rPr>
                        <a:t>Wszystkie czynniki ryzyka = 1.5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07840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2C5F7C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2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C9A87B"/>
                </a:solidFill>
                <a:latin typeface="Georgia"/>
                <a:ea typeface="Georgia"/>
                <a:cs typeface="Georgia"/>
                <a:sym typeface="Georgia"/>
              </a:rPr>
              <a:t>V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Wnioski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931920" y="3429000"/>
            <a:ext cx="1280160" cy="36576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1300"/>
              <a:buFont typeface="Calibri"/>
              <a:buNone/>
            </a:pPr>
            <a:r>
              <a:rPr i="0" lang="en-US" sz="1800" u="none" cap="none" strike="noStrike">
                <a:solidFill>
                  <a:srgbClr val="C9A87B"/>
                </a:solidFill>
              </a:rPr>
              <a:t>Demografia  ·  </a:t>
            </a:r>
            <a:r>
              <a:rPr lang="en-US" sz="1800">
                <a:solidFill>
                  <a:srgbClr val="C9A87B"/>
                </a:solidFill>
              </a:rPr>
              <a:t>Aspekty zdrowotne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3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Wnioski demograficzne i </a:t>
            </a: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zdrowotne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505915" y="795515"/>
            <a:ext cx="82296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2300"/>
              <a:buChar char="•"/>
            </a:pPr>
            <a:r>
              <a:rPr lang="en-US" sz="1800">
                <a:solidFill>
                  <a:srgbClr val="34495E"/>
                </a:solidFill>
              </a:rPr>
              <a:t>Do osiągnięcia </a:t>
            </a:r>
            <a:r>
              <a:rPr b="1" lang="en-US" sz="1800">
                <a:solidFill>
                  <a:srgbClr val="34495E"/>
                </a:solidFill>
              </a:rPr>
              <a:t>stabilności</a:t>
            </a:r>
            <a:r>
              <a:rPr lang="en-US" sz="1800">
                <a:solidFill>
                  <a:srgbClr val="34495E"/>
                </a:solidFill>
              </a:rPr>
              <a:t> wymagana jest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prawie </a:t>
            </a:r>
            <a:r>
              <a:rPr b="1" i="0" lang="en-US" sz="1800" u="none" cap="none" strike="noStrike">
                <a:solidFill>
                  <a:srgbClr val="34495E"/>
                </a:solidFill>
              </a:rPr>
              <a:t>dwukrotnie wyższ</a:t>
            </a:r>
            <a:r>
              <a:rPr b="1" lang="en-US" sz="1800">
                <a:solidFill>
                  <a:srgbClr val="34495E"/>
                </a:solidFill>
              </a:rPr>
              <a:t>a</a:t>
            </a:r>
            <a:r>
              <a:rPr b="1" i="0" lang="en-US" sz="1800" u="none" cap="none" strike="noStrike">
                <a:solidFill>
                  <a:srgbClr val="34495E"/>
                </a:solidFill>
              </a:rPr>
              <a:t> płodnoś</a:t>
            </a:r>
            <a:r>
              <a:rPr b="1" lang="en-US" sz="1800">
                <a:solidFill>
                  <a:srgbClr val="34495E"/>
                </a:solidFill>
              </a:rPr>
              <a:t>ć</a:t>
            </a:r>
            <a:r>
              <a:rPr b="1"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niż obecn</a:t>
            </a:r>
            <a:r>
              <a:rPr lang="en-US" sz="1800">
                <a:solidFill>
                  <a:srgbClr val="34495E"/>
                </a:solidFill>
              </a:rPr>
              <a:t>ie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40957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23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Asymetria wrażliwości </a:t>
            </a:r>
            <a:r>
              <a:rPr lang="en-US" sz="1800">
                <a:solidFill>
                  <a:srgbClr val="34495E"/>
                </a:solidFill>
              </a:rPr>
              <a:t>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model silniej reaguje na zmianę mnożnika </a:t>
            </a:r>
            <a:r>
              <a:rPr lang="en-US" sz="1800">
                <a:solidFill>
                  <a:srgbClr val="34495E"/>
                </a:solidFill>
              </a:rPr>
              <a:t>śmiertelności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niż na zmianę mnożnika płodności. </a:t>
            </a:r>
            <a:r>
              <a:rPr b="1" i="0" lang="en-US" sz="1800" u="none" cap="none" strike="noStrike">
                <a:solidFill>
                  <a:srgbClr val="34495E"/>
                </a:solidFill>
              </a:rPr>
              <a:t>Niska śmiertelność może zrekompensować niską płodność.</a:t>
            </a:r>
            <a:endParaRPr b="1" sz="1800">
              <a:solidFill>
                <a:schemeClr val="dk1"/>
              </a:solidFill>
            </a:endParaRPr>
          </a:p>
          <a:p>
            <a:pPr indent="-40957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2300"/>
              <a:buChar char="•"/>
            </a:pPr>
            <a:r>
              <a:rPr b="1" i="0" lang="en-US" sz="1800" u="none" cap="none" strike="noStrike">
                <a:solidFill>
                  <a:srgbClr val="34495E"/>
                </a:solidFill>
              </a:rPr>
              <a:t>Palenie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dominuje </a:t>
            </a:r>
            <a:r>
              <a:rPr lang="en-US" sz="1800">
                <a:solidFill>
                  <a:srgbClr val="34495E"/>
                </a:solidFill>
              </a:rPr>
              <a:t>wśród </a:t>
            </a:r>
            <a:r>
              <a:rPr b="1" lang="en-US" sz="1800">
                <a:solidFill>
                  <a:srgbClr val="34495E"/>
                </a:solidFill>
              </a:rPr>
              <a:t>czynników ryzyka raka płuc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. Polityka antynikotynowa m</a:t>
            </a:r>
            <a:r>
              <a:rPr lang="en-US" sz="1800">
                <a:solidFill>
                  <a:srgbClr val="34495E"/>
                </a:solidFill>
              </a:rPr>
              <a:t>oże mieć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największy wpływ na zmniejszenie śmiertelnoś</a:t>
            </a:r>
            <a:r>
              <a:rPr lang="en-US" sz="1800">
                <a:solidFill>
                  <a:srgbClr val="34495E"/>
                </a:solidFill>
              </a:rPr>
              <a:t>ci w populacji z powodu tej choroby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40957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2300"/>
              <a:buChar char="•"/>
            </a:pPr>
            <a:r>
              <a:rPr b="1" lang="en-US" sz="1800">
                <a:solidFill>
                  <a:srgbClr val="34495E"/>
                </a:solidFill>
              </a:rPr>
              <a:t>Choroby układu krążenia</a:t>
            </a:r>
            <a:r>
              <a:rPr lang="en-US" sz="1800">
                <a:solidFill>
                  <a:srgbClr val="34495E"/>
                </a:solidFill>
              </a:rPr>
              <a:t>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ma</a:t>
            </a:r>
            <a:r>
              <a:rPr lang="en-US" sz="1800">
                <a:solidFill>
                  <a:srgbClr val="34495E"/>
                </a:solidFill>
              </a:rPr>
              <a:t> kilka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istotnych czynników ryzyka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występuje </a:t>
            </a:r>
            <a:r>
              <a:rPr b="1" i="0" lang="en-US" sz="1800" u="none" cap="none" strike="noStrike">
                <a:solidFill>
                  <a:srgbClr val="34495E"/>
                </a:solidFill>
              </a:rPr>
              <a:t>wieloprzyczynowość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. </a:t>
            </a:r>
            <a:endParaRPr sz="1800">
              <a:solidFill>
                <a:srgbClr val="34495E"/>
              </a:solidFill>
            </a:endParaRPr>
          </a:p>
          <a:p>
            <a:pPr indent="-409575" lvl="0" marL="34290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2300"/>
              <a:buChar char="•"/>
            </a:pPr>
            <a:r>
              <a:rPr b="1" i="0" lang="en-US" sz="1800" u="none" cap="none" strike="noStrike">
                <a:solidFill>
                  <a:srgbClr val="34495E"/>
                </a:solidFill>
              </a:rPr>
              <a:t>Kształt piramidy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jest </a:t>
            </a:r>
            <a:r>
              <a:rPr lang="en-US" sz="1800">
                <a:solidFill>
                  <a:srgbClr val="34495E"/>
                </a:solidFill>
              </a:rPr>
              <a:t>kluczowy -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sama licz</a:t>
            </a:r>
            <a:r>
              <a:rPr lang="en-US" sz="1800">
                <a:solidFill>
                  <a:srgbClr val="34495E"/>
                </a:solidFill>
              </a:rPr>
              <a:t>ebność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populacji mówi </a:t>
            </a:r>
            <a:r>
              <a:rPr lang="en-US" sz="1800">
                <a:solidFill>
                  <a:srgbClr val="34495E"/>
                </a:solidFill>
              </a:rPr>
              <a:t>niewiele.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4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07840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5486400" y="2743200"/>
            <a:ext cx="4572000" cy="4572000"/>
          </a:xfrm>
          <a:prstGeom prst="ellipse">
            <a:avLst/>
          </a:prstGeom>
          <a:solidFill>
            <a:srgbClr val="2C5F7C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C9A87B"/>
                </a:solidFill>
                <a:latin typeface="Georgia"/>
                <a:ea typeface="Georgia"/>
                <a:cs typeface="Georgia"/>
                <a:sym typeface="Georgia"/>
              </a:rPr>
              <a:t>VI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Podsumowanie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3931920" y="3429000"/>
            <a:ext cx="1280160" cy="36576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7B"/>
              </a:buClr>
              <a:buSzPts val="1300"/>
              <a:buFont typeface="Calibri"/>
              <a:buNone/>
            </a:pPr>
            <a:r>
              <a:rPr i="0" lang="en-US" sz="1800" u="none" cap="none" strike="noStrike">
                <a:solidFill>
                  <a:srgbClr val="C9A87B"/>
                </a:solidFill>
              </a:rPr>
              <a:t>Co </a:t>
            </a:r>
            <a:r>
              <a:rPr lang="en-US" sz="1800">
                <a:solidFill>
                  <a:srgbClr val="C9A87B"/>
                </a:solidFill>
              </a:rPr>
              <a:t>zostało osiągnięte?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5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Co </a:t>
            </a:r>
            <a:r>
              <a:rPr b="1" lang="en-US" sz="26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zostało osiągnięte?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Implementacja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48575" y="1512831"/>
            <a:ext cx="3840600" cy="24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ABM - model agentowy: 50 000 agentów × 50 lat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34495E"/>
                </a:solidFill>
              </a:rPr>
              <a:t>2 choroby (rak płuc, c</a:t>
            </a:r>
            <a:r>
              <a:rPr lang="en-US" sz="1800">
                <a:solidFill>
                  <a:srgbClr val="34495E"/>
                </a:solidFill>
              </a:rPr>
              <a:t>horoby układu krążenia)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, 7 </a:t>
            </a:r>
            <a:r>
              <a:rPr lang="en-US" sz="1800">
                <a:solidFill>
                  <a:srgbClr val="34495E"/>
                </a:solidFill>
              </a:rPr>
              <a:t>czynników ryzyka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Optymalizacja - g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ridsearch (siatka 12×12) (</a:t>
            </a:r>
            <a:r>
              <a:rPr lang="en-US" sz="1800">
                <a:solidFill>
                  <a:srgbClr val="34495E"/>
                </a:solidFill>
              </a:rPr>
              <a:t>tryb przybliżony 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i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 </a:t>
            </a:r>
            <a:r>
              <a:rPr lang="en-US" sz="1800">
                <a:solidFill>
                  <a:srgbClr val="34495E"/>
                </a:solidFill>
              </a:rPr>
              <a:t>pełny model agentowy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)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Interaktywna a</a:t>
            </a:r>
            <a:r>
              <a:rPr i="0" lang="en-US" sz="1800" u="none" cap="none" strike="noStrike">
                <a:solidFill>
                  <a:srgbClr val="34495E"/>
                </a:solidFill>
              </a:rPr>
              <a:t>plikacja Streamlit 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Georgia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Georgia"/>
                <a:ea typeface="Georgia"/>
                <a:cs typeface="Georgia"/>
                <a:sym typeface="Georgia"/>
              </a:rPr>
              <a:t>Walidacja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4800513" y="1483059"/>
            <a:ext cx="3932100" cy="20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4495E"/>
              </a:buClr>
              <a:buSzPts val="1800"/>
              <a:buChar char="•"/>
            </a:pPr>
            <a:r>
              <a:rPr lang="en-US" sz="1800">
                <a:solidFill>
                  <a:srgbClr val="34495E"/>
                </a:solidFill>
              </a:rPr>
              <a:t>Wszystkie wartości czynników otrzymane w projekcie pokrywają się z wartościami czynników podanymi na stronie GUS w marginesie błędu (różnice wynikają m.in. z uwzględnienia chorób w projekcie).</a:t>
            </a:r>
            <a:endParaRPr i="0" sz="1800" u="none" cap="none" strike="noStrike">
              <a:solidFill>
                <a:srgbClr val="34495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A07840">
              <a:alpha val="1019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2C5F7C">
              <a:alpha val="12156"/>
            </a:srgbClr>
          </a:solidFill>
          <a:ln cap="flat" cmpd="sng" w="12700">
            <a:solidFill>
              <a:srgbClr val="1B2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7840"/>
              </a:buClr>
              <a:buSzPts val="1100"/>
              <a:buFont typeface="Calibri"/>
              <a:buNone/>
            </a:pPr>
            <a:r>
              <a:rPr i="0" lang="en-US" sz="1800" u="none" cap="none" strike="noStrike">
                <a:solidFill>
                  <a:srgbClr val="A07840"/>
                </a:solidFill>
              </a:rPr>
              <a:t>Dziękujemy za uwagę</a:t>
            </a:r>
            <a:r>
              <a:rPr lang="en-US" sz="1800">
                <a:solidFill>
                  <a:srgbClr val="A07840"/>
                </a:solidFill>
              </a:rPr>
              <a:t>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Pytania?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3749040" y="2103120"/>
            <a:ext cx="164592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914400" y="228600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7840"/>
              </a:buClr>
              <a:buSzPts val="900"/>
              <a:buFont typeface="Calibri"/>
              <a:buNone/>
            </a:pPr>
            <a:r>
              <a:rPr i="0" lang="en-US" u="none" cap="none" strike="noStrike">
                <a:solidFill>
                  <a:srgbClr val="A07840"/>
                </a:solidFill>
              </a:rPr>
              <a:t>OPIEKUNOWIE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914400" y="2554451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</a:rPr>
              <a:t>dr inż. Franciszek Rakowski  ·  dr Jan Kisielewski</a:t>
            </a:r>
            <a:r>
              <a:rPr b="1" i="0" lang="en-US" sz="1800" u="none" cap="none" strike="noStrike">
                <a:solidFill>
                  <a:srgbClr val="FFFFFF"/>
                </a:solidFill>
              </a:rPr>
              <a:t>  · </a:t>
            </a:r>
            <a:r>
              <a:rPr b="1" i="0" lang="en-US" sz="1800" u="none" cap="none" strike="noStrike">
                <a:solidFill>
                  <a:srgbClr val="FFFFFF"/>
                </a:solidFill>
              </a:rPr>
              <a:t> ICM UW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914400" y="2861731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7840"/>
              </a:buClr>
              <a:buSzPts val="900"/>
              <a:buFont typeface="Calibri"/>
              <a:buNone/>
            </a:pPr>
            <a:r>
              <a:rPr i="0" lang="en-US" u="none" cap="none" strike="noStrike">
                <a:solidFill>
                  <a:srgbClr val="A07840"/>
                </a:solidFill>
              </a:rPr>
              <a:t>ZESPÓŁ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457200" y="326836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</a:rPr>
              <a:t>Anna Strugielska (kierownik)</a:t>
            </a:r>
            <a:endParaRPr b="1" i="0" sz="1800" u="none" cap="none" strike="noStrike">
              <a:solidFill>
                <a:srgbClr val="FFFFFF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</a:rPr>
              <a:t> Weronika Dąbrowska  ·  Magdalena Jarońska  ·  Wojciech Ofiara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914400" y="3770501"/>
            <a:ext cx="73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7840"/>
              </a:buClr>
              <a:buSzPts val="900"/>
              <a:buFont typeface="Calibri"/>
              <a:buNone/>
            </a:pPr>
            <a:r>
              <a:rPr i="0" lang="en-US" u="none" cap="none" strike="noStrike">
                <a:solidFill>
                  <a:srgbClr val="A07840"/>
                </a:solidFill>
              </a:rPr>
              <a:t>ŹRÓDŁA</a:t>
            </a:r>
            <a:endParaRPr i="0" u="none" cap="none" strike="noStrike">
              <a:solidFill>
                <a:schemeClr val="dk1"/>
              </a:solidFill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365750" y="3962165"/>
            <a:ext cx="84126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i="0" lang="en-US" sz="1800" u="none" cap="none" strike="noStrike">
                <a:solidFill>
                  <a:srgbClr val="8899AA"/>
                </a:solidFill>
              </a:rPr>
              <a:t>GUS Polska 2021  ·  Program Białystok+  ·  WHO  ·  ESC  ·  CDC  ·  IARC  ·  Framingham  ·  ATP III  ·  GLOBOCAN 2020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B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/>
          <p:nvPr/>
        </p:nvSpPr>
        <p:spPr>
          <a:xfrm>
            <a:off x="164592" y="457200"/>
            <a:ext cx="45720" cy="4206240"/>
          </a:xfrm>
          <a:prstGeom prst="rect">
            <a:avLst/>
          </a:prstGeom>
          <a:solidFill>
            <a:srgbClr val="A07840">
              <a:alpha val="45098"/>
            </a:srgbClr>
          </a:solidFill>
          <a:ln cap="flat" cmpd="sng" w="12700">
            <a:solidFill>
              <a:srgbClr val="A0784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365760" y="182880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Pętla symulacji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365760" y="749808"/>
            <a:ext cx="8412480" cy="18288"/>
          </a:xfrm>
          <a:prstGeom prst="rect">
            <a:avLst/>
          </a:prstGeom>
          <a:solidFill>
            <a:srgbClr val="D8DEE5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"/>
          <p:cNvSpPr/>
          <p:nvPr/>
        </p:nvSpPr>
        <p:spPr>
          <a:xfrm>
            <a:off x="365760" y="749808"/>
            <a:ext cx="685800" cy="4572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457200" y="987550"/>
            <a:ext cx="8229600" cy="2558700"/>
          </a:xfrm>
          <a:prstGeom prst="rect">
            <a:avLst/>
          </a:prstGeom>
          <a:solidFill>
            <a:srgbClr val="F4F2EC"/>
          </a:solidFill>
          <a:ln cap="flat" cmpd="sng" w="12700">
            <a:solidFill>
              <a:srgbClr val="2C5F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7"/>
          <p:cNvSpPr/>
          <p:nvPr/>
        </p:nvSpPr>
        <p:spPr>
          <a:xfrm>
            <a:off x="457200" y="987550"/>
            <a:ext cx="45600" cy="2558700"/>
          </a:xfrm>
          <a:prstGeom prst="rect">
            <a:avLst/>
          </a:prstGeom>
          <a:solidFill>
            <a:srgbClr val="2C5F7C"/>
          </a:solidFill>
          <a:ln cap="flat" cmpd="sng" w="12700">
            <a:solidFill>
              <a:srgbClr val="2C5F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7"/>
          <p:cNvSpPr/>
          <p:nvPr/>
        </p:nvSpPr>
        <p:spPr>
          <a:xfrm>
            <a:off x="640080" y="1042416"/>
            <a:ext cx="7955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for month in range(600):              # 50 lat × 12 miesięcy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age_all()                         # +1 miesiąc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handle_deaths()                   # 3-fazowy model Coxa: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# a) akumulacja H_cum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# b) inicjacja choroby z P = 1 − exp(−Δh)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# c) mortality = base × cox_mult × MM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handle_births()                   # ASFR × FM × redukcja chorób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handle_household_splits()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update_health_states()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if month % 12 == 0: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1000"/>
              <a:buFont typeface="Courier New"/>
              <a:buNone/>
            </a:pPr>
            <a:r>
              <a:rPr b="0" i="0" lang="en-US" u="none" cap="none" strike="noStrike">
                <a:solidFill>
                  <a:srgbClr val="1B2A41"/>
                </a:solidFill>
                <a:latin typeface="Courier New"/>
                <a:ea typeface="Courier New"/>
                <a:cs typeface="Courier New"/>
                <a:sym typeface="Courier New"/>
              </a:rPr>
              <a:t>        collect_yearly_stats()        # piramida, populacja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1943070" y="3657144"/>
            <a:ext cx="2377500" cy="10059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/>
          <p:nvPr/>
        </p:nvSpPr>
        <p:spPr>
          <a:xfrm>
            <a:off x="1943070" y="3657144"/>
            <a:ext cx="2377500" cy="549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7"/>
          <p:cNvSpPr/>
          <p:nvPr/>
        </p:nvSpPr>
        <p:spPr>
          <a:xfrm>
            <a:off x="1943070" y="3730296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180 </a:t>
            </a:r>
            <a:r>
              <a:rPr b="1" lang="en-US" sz="3000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mln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1943070" y="4278936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b="0" i="0" lang="en-US" sz="18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Operacji</a:t>
            </a:r>
            <a:r>
              <a:rPr b="0" i="0" lang="en-US" sz="10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4823430" y="3643129"/>
            <a:ext cx="2377500" cy="1005900"/>
          </a:xfrm>
          <a:prstGeom prst="rect">
            <a:avLst/>
          </a:prstGeom>
          <a:solidFill>
            <a:srgbClr val="F6F1E8"/>
          </a:solidFill>
          <a:ln cap="flat" cmpd="sng" w="12700">
            <a:solidFill>
              <a:srgbClr val="D8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7"/>
          <p:cNvSpPr/>
          <p:nvPr/>
        </p:nvSpPr>
        <p:spPr>
          <a:xfrm>
            <a:off x="4823430" y="3657144"/>
            <a:ext cx="2377500" cy="54900"/>
          </a:xfrm>
          <a:prstGeom prst="rect">
            <a:avLst/>
          </a:prstGeom>
          <a:solidFill>
            <a:srgbClr val="A07840"/>
          </a:solidFill>
          <a:ln cap="flat" cmpd="sng" w="12700">
            <a:solidFill>
              <a:srgbClr val="A07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4823430" y="3730296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1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B2A41"/>
                </a:solidFill>
                <a:latin typeface="Georgia"/>
                <a:ea typeface="Georgia"/>
                <a:cs typeface="Georgia"/>
                <a:sym typeface="Georgia"/>
              </a:rPr>
              <a:t>~90 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4742875" y="4278925"/>
            <a:ext cx="253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b="0" i="0" lang="en-US" sz="1800" u="none" cap="none" strike="noStrik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Jedna symulacja (50 lat)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